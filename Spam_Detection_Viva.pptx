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32A66"/>
              </a:solidFill>
              <a:effectLst/>
            </c:spPr>
          </c:dPt>
          <c:dPt>
            <c:idx val="1"/>
            <c:bubble3D val="0"/>
            <c:spPr>
              <a:solidFill>
                <a:srgbClr val="F4721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Ham (4,516)</c:v>
                </c:pt>
                <c:pt idx="1">
                  <c:v>Spam (653)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4516</c:v>
                </c:pt>
                <c:pt idx="1">
                  <c:v>653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A618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5F6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Ham</c:v>
                </c:pt>
              </c:strCache>
            </c:strRef>
          </c:tx>
          <c:spPr>
            <a:solidFill>
              <a:srgbClr val="232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SMOTE</c:v>
                  </c:pt>
                  <c:pt idx="1">
                    <c:v>After SMOTE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3613</c:v>
                </c:pt>
                <c:pt idx="1">
                  <c:v>3613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Spam</c:v>
                </c:pt>
              </c:strCache>
            </c:strRef>
          </c:tx>
          <c:spPr>
            <a:solidFill>
              <a:srgbClr val="F472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SMOTE</c:v>
                  </c:pt>
                  <c:pt idx="1">
                    <c:v>After SMOTE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522</c:v>
                </c:pt>
                <c:pt idx="1">
                  <c:v>3613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4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1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A618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Precision</c:v>
                </c:pt>
              </c:strCache>
            </c:strRef>
          </c:tx>
          <c:spPr>
            <a:solidFill>
              <a:srgbClr val="F4721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Lin. SVM</c:v>
                  </c:pt>
                  <c:pt idx="1">
                    <c:v>Rand. Forest</c:v>
                  </c:pt>
                  <c:pt idx="2">
                    <c:v>Log. Reg.</c:v>
                  </c:pt>
                  <c:pt idx="3">
                    <c:v>Grad. Boost</c:v>
                  </c:pt>
                  <c:pt idx="4">
                    <c:v>Naive Bayes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0.9811</c:v>
                </c:pt>
                <c:pt idx="1">
                  <c:v>0.9795</c:v>
                </c:pt>
                <c:pt idx="2">
                  <c:v>0.955</c:v>
                </c:pt>
                <c:pt idx="3">
                  <c:v>0.953</c:v>
                </c:pt>
                <c:pt idx="4">
                  <c:v>0.9158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1F4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6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920240"/>
            <a:ext cx="4754880" cy="4754880"/>
          </a:xfrm>
          <a:prstGeom prst="ellipse">
            <a:avLst/>
          </a:prstGeom>
          <a:solidFill>
            <a:srgbClr val="232A66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914400"/>
            <a:ext cx="2743200" cy="2743200"/>
          </a:xfrm>
          <a:prstGeom prst="ellipse">
            <a:avLst/>
          </a:prstGeom>
          <a:solidFill>
            <a:srgbClr val="0C1133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-137160"/>
            <a:ext cx="1188720" cy="1188720"/>
          </a:xfrm>
          <a:prstGeom prst="ellipse">
            <a:avLst/>
          </a:prstGeom>
          <a:solidFill>
            <a:srgbClr val="F47216"/>
          </a:solidFill>
          <a:ln/>
        </p:spPr>
      </p:sp>
      <p:sp>
        <p:nvSpPr>
          <p:cNvPr id="5" name="Shape 3"/>
          <p:cNvSpPr/>
          <p:nvPr/>
        </p:nvSpPr>
        <p:spPr>
          <a:xfrm>
            <a:off x="-640080" y="5760720"/>
            <a:ext cx="2011680" cy="2011680"/>
          </a:xfrm>
          <a:prstGeom prst="ellipse">
            <a:avLst/>
          </a:prstGeom>
          <a:solidFill>
            <a:srgbClr val="232A6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325880"/>
            <a:ext cx="868680" cy="868680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1560424"/>
            <a:ext cx="399593" cy="3995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3957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 ·  DISSERTATION VIVA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Spam with Precision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868680" y="379476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pipeline for SMS spam classification, deliberately optimised for precision over F1 to protect genuine messages.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86968" y="5074920"/>
            <a:ext cx="6583680" cy="0"/>
          </a:xfrm>
          <a:prstGeom prst="line">
            <a:avLst/>
          </a:prstGeom>
          <a:noFill/>
          <a:ln w="19050">
            <a:solidFill>
              <a:srgbClr val="232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5257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A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5,572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68680" y="5742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SMS messages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200400" y="5257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A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models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200400" y="5742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&amp; tuned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532120" y="5257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A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532120" y="5742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precision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6868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Steve  ·  Information Tech Consultants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4721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Precision Matters in Spam Filtering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classification is not a symmetric problem. The two error types carry very different costs, and that asymmetry should drive how the model is built and judged.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4297680" cy="2926080"/>
          </a:xfrm>
          <a:prstGeom prst="roundRect">
            <a:avLst>
              <a:gd name="adj" fmla="val 3750"/>
            </a:avLst>
          </a:prstGeom>
          <a:solidFill>
            <a:srgbClr val="141A4D"/>
          </a:solidFill>
          <a:ln/>
          <a:effectLst>
            <a:outerShdw sx="100000" sy="100000" kx="0" ky="0" algn="bl" rotWithShape="0" blurRad="114300" dist="38100" dir="5400000">
              <a:srgbClr val="0C1133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520440"/>
            <a:ext cx="566928" cy="566928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51" y="3673511"/>
            <a:ext cx="260787" cy="260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72768" y="35844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416052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carefully engineered, precision-first pipeline filter spam reliably while almost never discarding a genuine message?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54406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ranked, cross-validated and tuned on precision, not F1.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257800" y="1847088"/>
            <a:ext cx="6355080" cy="2084832"/>
          </a:xfrm>
          <a:prstGeom prst="roundRect">
            <a:avLst>
              <a:gd name="adj" fmla="val 5263"/>
            </a:avLst>
          </a:prstGeom>
          <a:solidFill>
            <a:srgbClr val="FDEBDC"/>
          </a:solidFill>
          <a:ln w="12700">
            <a:solidFill>
              <a:srgbClr val="F47216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50408" y="2121408"/>
            <a:ext cx="603504" cy="603504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354" y="2284354"/>
            <a:ext cx="277612" cy="2776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09360" y="2121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 —  costly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309360" y="25054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(ham) message is wrongly flagged as spam.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568696" y="2944368"/>
            <a:ext cx="5751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may never see an important message. In most real deployments this is the worst outcome, so the model must be confident before it flags.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257800" y="4096512"/>
            <a:ext cx="635508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550408" y="4370832"/>
            <a:ext cx="603504" cy="603504"/>
          </a:xfrm>
          <a:prstGeom prst="ellipse">
            <a:avLst/>
          </a:prstGeom>
          <a:solidFill>
            <a:srgbClr val="232A6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354" y="4533778"/>
            <a:ext cx="277612" cy="2776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4370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 —  tolerable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0936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spam message slips through into the inbox.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5568696" y="5193792"/>
            <a:ext cx="5751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Annoying, but recoverable, the user simply deletes it. We still report recall and F1 so this trade-off stays visible.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4721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&amp; What It Revealed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670048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93852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5,572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5968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messages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55848" y="1828800"/>
            <a:ext cx="2670048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01568" y="193852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2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47288" y="25968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44768" y="1828800"/>
            <a:ext cx="2670048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0488" y="193852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2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5,169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36208" y="25968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messages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33688" y="1828800"/>
            <a:ext cx="2670048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79408" y="193852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12.6%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025128" y="25968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spam (imbalanced)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3310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3657600"/>
          <a:ext cx="41148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5074920" y="3310128"/>
            <a:ext cx="65379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49240" y="3520440"/>
            <a:ext cx="530352" cy="530352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435" y="3663635"/>
            <a:ext cx="243962" cy="24396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007608" y="3520440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features separate the classes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4160520"/>
          <a:ext cx="598932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46304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per message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721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6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6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Uppercase letters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6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a phone / shortcode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6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a currency symbol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6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4721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End-to-End, Leakage-Safe Pipeline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from raw text to a tuned classifier is chained inside a single reproducible pipeline. Resampling lives inside the pipeline, so it only ever sees training folds.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980944"/>
            <a:ext cx="548640" cy="548640"/>
          </a:xfrm>
          <a:prstGeom prst="ellipse">
            <a:avLst/>
          </a:prstGeom>
          <a:solidFill>
            <a:srgbClr val="141A4D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3129077"/>
            <a:ext cx="252374" cy="2523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423160" y="2980944"/>
            <a:ext cx="420624" cy="420624"/>
          </a:xfrm>
          <a:prstGeom prst="ellipse">
            <a:avLst/>
          </a:prstGeom>
          <a:solidFill>
            <a:srgbClr val="FDEBDC"/>
          </a:solidFill>
          <a:ln/>
        </p:spPr>
      </p:sp>
      <p:sp>
        <p:nvSpPr>
          <p:cNvPr id="11" name="Text 8"/>
          <p:cNvSpPr/>
          <p:nvPr/>
        </p:nvSpPr>
        <p:spPr>
          <a:xfrm>
            <a:off x="2423160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36393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22960" y="40050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profile the data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081528" y="3442716"/>
            <a:ext cx="292608" cy="292608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532" y="3521720"/>
            <a:ext cx="134600" cy="134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392424" y="27432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48456" y="2980944"/>
            <a:ext cx="548640" cy="548640"/>
          </a:xfrm>
          <a:prstGeom prst="ellipse">
            <a:avLst/>
          </a:prstGeom>
          <a:solidFill>
            <a:srgbClr val="141A4D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589" y="3129077"/>
            <a:ext cx="252374" cy="25237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248656" y="2980944"/>
            <a:ext cx="420624" cy="420624"/>
          </a:xfrm>
          <a:prstGeom prst="ellipse">
            <a:avLst/>
          </a:prstGeom>
          <a:solidFill>
            <a:srgbClr val="FDEBDC"/>
          </a:solidFill>
          <a:ln/>
        </p:spPr>
      </p:sp>
      <p:sp>
        <p:nvSpPr>
          <p:cNvPr id="20" name="Text 15"/>
          <p:cNvSpPr/>
          <p:nvPr/>
        </p:nvSpPr>
        <p:spPr>
          <a:xfrm>
            <a:off x="5248656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648456" y="36393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3648456" y="40050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normalise text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907024" y="3442716"/>
            <a:ext cx="292608" cy="292608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028" y="3521720"/>
            <a:ext cx="134600" cy="1346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217920" y="27432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73952" y="2980944"/>
            <a:ext cx="548640" cy="548640"/>
          </a:xfrm>
          <a:prstGeom prst="ellipse">
            <a:avLst/>
          </a:prstGeom>
          <a:solidFill>
            <a:srgbClr val="141A4D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085" y="3129077"/>
            <a:ext cx="252374" cy="252374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074152" y="2980944"/>
            <a:ext cx="420624" cy="420624"/>
          </a:xfrm>
          <a:prstGeom prst="ellipse">
            <a:avLst/>
          </a:prstGeom>
          <a:solidFill>
            <a:srgbClr val="FDEBDC"/>
          </a:solidFill>
          <a:ln/>
        </p:spPr>
      </p:sp>
      <p:sp>
        <p:nvSpPr>
          <p:cNvPr id="29" name="Text 22"/>
          <p:cNvSpPr/>
          <p:nvPr/>
        </p:nvSpPr>
        <p:spPr>
          <a:xfrm>
            <a:off x="8074152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6473952" y="36393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700" dirty="0"/>
          </a:p>
        </p:txBody>
      </p:sp>
      <p:sp>
        <p:nvSpPr>
          <p:cNvPr id="31" name="Text 24"/>
          <p:cNvSpPr/>
          <p:nvPr/>
        </p:nvSpPr>
        <p:spPr>
          <a:xfrm>
            <a:off x="6473952" y="40050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three feature sets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732520" y="3442716"/>
            <a:ext cx="292608" cy="292608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1524" y="3521720"/>
            <a:ext cx="134600" cy="1346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9043416" y="274320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9299448" y="2980944"/>
            <a:ext cx="548640" cy="548640"/>
          </a:xfrm>
          <a:prstGeom prst="ellipse">
            <a:avLst/>
          </a:prstGeom>
          <a:solidFill>
            <a:srgbClr val="141A4D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7581" y="3129077"/>
            <a:ext cx="252374" cy="252374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899648" y="2980944"/>
            <a:ext cx="420624" cy="420624"/>
          </a:xfrm>
          <a:prstGeom prst="ellipse">
            <a:avLst/>
          </a:prstGeom>
          <a:solidFill>
            <a:srgbClr val="FDEBDC"/>
          </a:solidFill>
          <a:ln/>
        </p:spPr>
      </p:sp>
      <p:sp>
        <p:nvSpPr>
          <p:cNvPr id="38" name="Text 29"/>
          <p:cNvSpPr/>
          <p:nvPr/>
        </p:nvSpPr>
        <p:spPr>
          <a:xfrm>
            <a:off x="10899648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9299448" y="36393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</a:t>
            </a:r>
            <a:endParaRPr lang="en-US" sz="1700" dirty="0"/>
          </a:p>
        </p:txBody>
      </p:sp>
      <p:sp>
        <p:nvSpPr>
          <p:cNvPr id="40" name="Text 31"/>
          <p:cNvSpPr/>
          <p:nvPr/>
        </p:nvSpPr>
        <p:spPr>
          <a:xfrm>
            <a:off x="9299448" y="40050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on train only</a:t>
            </a:r>
            <a:endParaRPr lang="en-US" sz="1250" dirty="0"/>
          </a:p>
        </p:txBody>
      </p:sp>
      <p:sp>
        <p:nvSpPr>
          <p:cNvPr id="41" name="Shape 32"/>
          <p:cNvSpPr/>
          <p:nvPr/>
        </p:nvSpPr>
        <p:spPr>
          <a:xfrm>
            <a:off x="566928" y="47091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822960" y="4946904"/>
            <a:ext cx="548640" cy="548640"/>
          </a:xfrm>
          <a:prstGeom prst="ellipse">
            <a:avLst/>
          </a:prstGeom>
          <a:solidFill>
            <a:srgbClr val="141A4D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093" y="5095037"/>
            <a:ext cx="252374" cy="252374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423160" y="4946904"/>
            <a:ext cx="420624" cy="420624"/>
          </a:xfrm>
          <a:prstGeom prst="ellipse">
            <a:avLst/>
          </a:prstGeom>
          <a:solidFill>
            <a:srgbClr val="FDEBDC"/>
          </a:solidFill>
          <a:ln/>
        </p:spPr>
      </p:sp>
      <p:sp>
        <p:nvSpPr>
          <p:cNvPr id="45" name="Text 35"/>
          <p:cNvSpPr/>
          <p:nvPr/>
        </p:nvSpPr>
        <p:spPr>
          <a:xfrm>
            <a:off x="2423160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36"/>
          <p:cNvSpPr/>
          <p:nvPr/>
        </p:nvSpPr>
        <p:spPr>
          <a:xfrm>
            <a:off x="822960" y="56052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700" dirty="0"/>
          </a:p>
        </p:txBody>
      </p:sp>
      <p:sp>
        <p:nvSpPr>
          <p:cNvPr id="47" name="Text 37"/>
          <p:cNvSpPr/>
          <p:nvPr/>
        </p:nvSpPr>
        <p:spPr>
          <a:xfrm>
            <a:off x="822960" y="59710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classifiers</a:t>
            </a:r>
            <a:endParaRPr lang="en-US" sz="1250" dirty="0"/>
          </a:p>
        </p:txBody>
      </p:sp>
      <p:sp>
        <p:nvSpPr>
          <p:cNvPr id="48" name="Shape 38"/>
          <p:cNvSpPr/>
          <p:nvPr/>
        </p:nvSpPr>
        <p:spPr>
          <a:xfrm>
            <a:off x="3081528" y="5408676"/>
            <a:ext cx="292608" cy="292608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0532" y="5487680"/>
            <a:ext cx="134600" cy="134600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3392424" y="47091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3648456" y="4946904"/>
            <a:ext cx="548640" cy="548640"/>
          </a:xfrm>
          <a:prstGeom prst="ellipse">
            <a:avLst/>
          </a:prstGeom>
          <a:solidFill>
            <a:srgbClr val="141A4D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6589" y="5095037"/>
            <a:ext cx="252374" cy="252374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5248656" y="4946904"/>
            <a:ext cx="420624" cy="420624"/>
          </a:xfrm>
          <a:prstGeom prst="ellipse">
            <a:avLst/>
          </a:prstGeom>
          <a:solidFill>
            <a:srgbClr val="FDEBDC"/>
          </a:solidFill>
          <a:ln/>
        </p:spPr>
      </p:sp>
      <p:sp>
        <p:nvSpPr>
          <p:cNvPr id="54" name="Text 42"/>
          <p:cNvSpPr/>
          <p:nvPr/>
        </p:nvSpPr>
        <p:spPr>
          <a:xfrm>
            <a:off x="5248656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5" name="Text 43"/>
          <p:cNvSpPr/>
          <p:nvPr/>
        </p:nvSpPr>
        <p:spPr>
          <a:xfrm>
            <a:off x="3648456" y="56052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700" dirty="0"/>
          </a:p>
        </p:txBody>
      </p:sp>
      <p:sp>
        <p:nvSpPr>
          <p:cNvPr id="56" name="Text 44"/>
          <p:cNvSpPr/>
          <p:nvPr/>
        </p:nvSpPr>
        <p:spPr>
          <a:xfrm>
            <a:off x="3648456" y="59710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Precision-first metrics</a:t>
            </a:r>
            <a:endParaRPr lang="en-US" sz="1250" dirty="0"/>
          </a:p>
        </p:txBody>
      </p:sp>
      <p:sp>
        <p:nvSpPr>
          <p:cNvPr id="57" name="Shape 45"/>
          <p:cNvSpPr/>
          <p:nvPr/>
        </p:nvSpPr>
        <p:spPr>
          <a:xfrm>
            <a:off x="5907024" y="5408676"/>
            <a:ext cx="292608" cy="292608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6028" y="5487680"/>
            <a:ext cx="134600" cy="134600"/>
          </a:xfrm>
          <a:prstGeom prst="rect">
            <a:avLst/>
          </a:prstGeom>
        </p:spPr>
      </p:pic>
      <p:sp>
        <p:nvSpPr>
          <p:cNvPr id="59" name="Shape 46"/>
          <p:cNvSpPr/>
          <p:nvPr/>
        </p:nvSpPr>
        <p:spPr>
          <a:xfrm>
            <a:off x="6217920" y="47091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60" name="Shape 47"/>
          <p:cNvSpPr/>
          <p:nvPr/>
        </p:nvSpPr>
        <p:spPr>
          <a:xfrm>
            <a:off x="6473952" y="4946904"/>
            <a:ext cx="548640" cy="548640"/>
          </a:xfrm>
          <a:prstGeom prst="ellipse">
            <a:avLst/>
          </a:prstGeom>
          <a:solidFill>
            <a:srgbClr val="141A4D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6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2085" y="5095037"/>
            <a:ext cx="252374" cy="252374"/>
          </a:xfrm>
          <a:prstGeom prst="rect">
            <a:avLst/>
          </a:prstGeom>
        </p:spPr>
      </p:pic>
      <p:sp>
        <p:nvSpPr>
          <p:cNvPr id="62" name="Shape 48"/>
          <p:cNvSpPr/>
          <p:nvPr/>
        </p:nvSpPr>
        <p:spPr>
          <a:xfrm>
            <a:off x="8074152" y="4946904"/>
            <a:ext cx="420624" cy="420624"/>
          </a:xfrm>
          <a:prstGeom prst="ellipse">
            <a:avLst/>
          </a:prstGeom>
          <a:solidFill>
            <a:srgbClr val="FDEBDC"/>
          </a:solidFill>
          <a:ln/>
        </p:spPr>
      </p:sp>
      <p:sp>
        <p:nvSpPr>
          <p:cNvPr id="63" name="Text 49"/>
          <p:cNvSpPr/>
          <p:nvPr/>
        </p:nvSpPr>
        <p:spPr>
          <a:xfrm>
            <a:off x="8074152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64" name="Text 50"/>
          <p:cNvSpPr/>
          <p:nvPr/>
        </p:nvSpPr>
        <p:spPr>
          <a:xfrm>
            <a:off x="6473952" y="56052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</a:t>
            </a:r>
            <a:endParaRPr lang="en-US" sz="1700" dirty="0"/>
          </a:p>
        </p:txBody>
      </p:sp>
      <p:sp>
        <p:nvSpPr>
          <p:cNvPr id="65" name="Text 51"/>
          <p:cNvSpPr/>
          <p:nvPr/>
        </p:nvSpPr>
        <p:spPr>
          <a:xfrm>
            <a:off x="6473952" y="59710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4721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Text Cleaning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steps, applied in a deliberate order so punctuation-aware steps run first.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414016"/>
            <a:ext cx="384048" cy="384048"/>
          </a:xfrm>
          <a:prstGeom prst="ellipse">
            <a:avLst/>
          </a:prstGeom>
          <a:solidFill>
            <a:srgbClr val="F4721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33856" y="2395728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  </a:t>
            </a:r>
            <a:pPr indent="0" marL="0">
              <a:buNone/>
            </a:pPr>
            <a:r>
              <a:rPr lang="en-US" sz="1300" i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case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2980944"/>
            <a:ext cx="384048" cy="384048"/>
          </a:xfrm>
          <a:prstGeom prst="ellipse">
            <a:avLst/>
          </a:prstGeom>
          <a:solidFill>
            <a:srgbClr val="F47216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3856" y="2962656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emoticons   </a:t>
            </a:r>
            <a:pPr indent="0" marL="0">
              <a:buNone/>
            </a:pPr>
            <a:r>
              <a:rPr lang="en-US" sz="1300" i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:)  →  smileface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3547872"/>
            <a:ext cx="384048" cy="384048"/>
          </a:xfrm>
          <a:prstGeom prst="ellipse">
            <a:avLst/>
          </a:prstGeom>
          <a:solidFill>
            <a:srgbClr val="F47216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3856" y="3529584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contractions   </a:t>
            </a:r>
            <a:pPr indent="0" marL="0">
              <a:buNone/>
            </a:pPr>
            <a:r>
              <a:rPr lang="en-US" sz="1300" i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 →  do not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" y="4114800"/>
            <a:ext cx="384048" cy="384048"/>
          </a:xfrm>
          <a:prstGeom prst="ellipse">
            <a:avLst/>
          </a:prstGeom>
          <a:solidFill>
            <a:srgbClr val="F47216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4096512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tokens   </a:t>
            </a:r>
            <a:pPr indent="0" marL="0">
              <a:buNone/>
            </a:pPr>
            <a:r>
              <a:rPr lang="en-US" sz="1300" i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emails, money, numbers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4681728"/>
            <a:ext cx="384048" cy="384048"/>
          </a:xfrm>
          <a:prstGeom prst="ellipse">
            <a:avLst/>
          </a:prstGeom>
          <a:solidFill>
            <a:srgbClr val="F47216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3856" y="4663440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 repeats   </a:t>
            </a:r>
            <a:pPr indent="0" marL="0">
              <a:buNone/>
            </a:pPr>
            <a:r>
              <a:rPr lang="en-US" sz="1300" i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freeeee  →  free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66928" y="5248656"/>
            <a:ext cx="384048" cy="384048"/>
          </a:xfrm>
          <a:prstGeom prst="ellipse">
            <a:avLst/>
          </a:prstGeom>
          <a:solidFill>
            <a:srgbClr val="F47216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33856" y="5230368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non-alphabetic   </a:t>
            </a:r>
            <a:pPr indent="0" marL="0">
              <a:buNone/>
            </a:pPr>
            <a:r>
              <a:rPr lang="en-US" sz="1300" i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leftover symbols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66928" y="5815584"/>
            <a:ext cx="384048" cy="384048"/>
          </a:xfrm>
          <a:prstGeom prst="ellipse">
            <a:avLst/>
          </a:prstGeom>
          <a:solidFill>
            <a:srgbClr val="F47216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5815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33856" y="5797296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&amp; lemmatise   </a:t>
            </a:r>
            <a:pPr indent="0" marL="0">
              <a:buNone/>
            </a:pPr>
            <a:r>
              <a:rPr lang="en-US" sz="1300" i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slang fix + stopwords removed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355080" y="1828800"/>
            <a:ext cx="5257800" cy="4526280"/>
          </a:xfrm>
          <a:prstGeom prst="roundRect">
            <a:avLst>
              <a:gd name="adj" fmla="val 2424"/>
            </a:avLst>
          </a:prstGeom>
          <a:solidFill>
            <a:srgbClr val="141A4D"/>
          </a:solidFill>
          <a:ln/>
          <a:effectLst>
            <a:outerShdw sx="100000" sy="100000" kx="0" ky="0" algn="bl" rotWithShape="0" blurRad="114300" dist="38100" dir="5400000">
              <a:srgbClr val="0C11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65976" y="2103120"/>
            <a:ext cx="548640" cy="548640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4109" y="2251253"/>
            <a:ext cx="252374" cy="25237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324344" y="21031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65976" y="2852928"/>
            <a:ext cx="4636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MESSAGE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665976" y="3200400"/>
            <a:ext cx="4636008" cy="1078992"/>
          </a:xfrm>
          <a:prstGeom prst="roundRect">
            <a:avLst>
              <a:gd name="adj" fmla="val 6780"/>
            </a:avLst>
          </a:prstGeom>
          <a:solidFill>
            <a:srgbClr val="232A66"/>
          </a:solidFill>
          <a:ln/>
        </p:spPr>
      </p:sp>
      <p:sp>
        <p:nvSpPr>
          <p:cNvPr id="34" name="Text 31"/>
          <p:cNvSpPr/>
          <p:nvPr/>
        </p:nvSpPr>
        <p:spPr>
          <a:xfrm>
            <a:off x="6867144" y="3310128"/>
            <a:ext cx="42336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"Free entry in 2 a wkly comp to win FA Cup final tkts 21st May 2005. Text FA to 87121 to receive entry question"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8819388" y="4370832"/>
            <a:ext cx="329184" cy="329184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8268" y="4459712"/>
            <a:ext cx="151425" cy="151425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665976" y="4791456"/>
            <a:ext cx="4636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6665976" y="5120640"/>
            <a:ext cx="4636008" cy="1024128"/>
          </a:xfrm>
          <a:prstGeom prst="roundRect">
            <a:avLst>
              <a:gd name="adj" fmla="val 7143"/>
            </a:avLst>
          </a:prstGeom>
          <a:solidFill>
            <a:srgbClr val="F47216"/>
          </a:solidFill>
          <a:ln/>
        </p:spPr>
      </p:sp>
      <p:sp>
        <p:nvSpPr>
          <p:cNvPr id="39" name="Text 35"/>
          <p:cNvSpPr/>
          <p:nvPr/>
        </p:nvSpPr>
        <p:spPr>
          <a:xfrm>
            <a:off x="6867144" y="5212080"/>
            <a:ext cx="4233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entry num wkly comp win fa cup final tkts may num text fa longnum receive entry question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4721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BALANCING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Fused Features, Leakage-Safe Balancing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 BLOCKS, FUSED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5394960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2487168"/>
            <a:ext cx="548640" cy="548640"/>
          </a:xfrm>
          <a:prstGeom prst="ellipse">
            <a:avLst/>
          </a:prstGeom>
          <a:solidFill>
            <a:srgbClr val="141A4D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2635301"/>
            <a:ext cx="252374" cy="2523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2432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TF-IDF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81328" y="27980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grams of normal vocabulary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480560" y="243230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6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66928" y="3401568"/>
            <a:ext cx="5394960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86384" y="3602736"/>
            <a:ext cx="548640" cy="548640"/>
          </a:xfrm>
          <a:prstGeom prst="ellipse">
            <a:avLst/>
          </a:prstGeom>
          <a:solidFill>
            <a:srgbClr val="141A4D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7" y="3750869"/>
            <a:ext cx="252374" cy="2523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81328" y="3547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 n-grams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481328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fr33 / w1n obfuscation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480560" y="354787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6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566928" y="4517136"/>
            <a:ext cx="5394960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86384" y="4718304"/>
            <a:ext cx="548640" cy="548640"/>
          </a:xfrm>
          <a:prstGeom prst="ellipse">
            <a:avLst/>
          </a:prstGeom>
          <a:solidFill>
            <a:srgbClr val="141A4D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4866437"/>
            <a:ext cx="252374" cy="25237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81328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Meta-features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481328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caps, digits, currency flags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480560" y="46634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6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566928" y="5650992"/>
            <a:ext cx="5394960" cy="603504"/>
          </a:xfrm>
          <a:prstGeom prst="roundRect">
            <a:avLst>
              <a:gd name="adj" fmla="val 15152"/>
            </a:avLst>
          </a:prstGeom>
          <a:solidFill>
            <a:srgbClr val="141A4D"/>
          </a:solidFill>
          <a:ln/>
        </p:spPr>
      </p:sp>
      <p:sp>
        <p:nvSpPr>
          <p:cNvPr id="26" name="Text 21"/>
          <p:cNvSpPr/>
          <p:nvPr/>
        </p:nvSpPr>
        <p:spPr>
          <a:xfrm>
            <a:off x="786384" y="565099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into one ColumnTransformer  →  </a:t>
            </a:r>
            <a:pPr indent="0" marL="0">
              <a:buNone/>
            </a:pPr>
            <a:r>
              <a:rPr lang="en-US" sz="15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7,010 features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6355080" y="182880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647688" y="2066544"/>
            <a:ext cx="548640" cy="548640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1" y="2214677"/>
            <a:ext cx="252374" cy="25237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06056" y="206654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SMOTE — training data only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6665976" y="2697480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is oversampled to a full 50/50 balance inside the pipeline, so the held-out test set keeps its natural rate. No leakage, honest metrics.</a:t>
            </a:r>
            <a:endParaRPr lang="en-US" sz="13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6537960" y="3611880"/>
          <a:ext cx="48463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4721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Models, Ranked by Precision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01952"/>
          <a:ext cx="6400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60120"/>
                <a:gridCol w="960120"/>
                <a:gridCol w="914400"/>
                <a:gridCol w="9144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96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6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Multinomial NB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1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440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reaches 100% precision but lower recall. 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gives the best balance and the highest AUC.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609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PRECISION (MEAN)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178040" y="2286000"/>
          <a:ext cx="4526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4721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 &amp; Final Selection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strongest baselines were tuned with GridSearchCV, scored on precision. The winner is the model with the best cross-validated precision.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606040"/>
            <a:ext cx="4754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8254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3319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precision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1752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32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0.9669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41248" y="4023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10  ·  max_features = 4,000  ·  1-grams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77840" y="2606040"/>
            <a:ext cx="4754880" cy="2286000"/>
          </a:xfrm>
          <a:prstGeom prst="roundRect">
            <a:avLst>
              <a:gd name="adj" fmla="val 4800"/>
            </a:avLst>
          </a:prstGeom>
          <a:solidFill>
            <a:srgbClr val="FDEBDC"/>
          </a:solidFill>
          <a:ln w="15875">
            <a:solidFill>
              <a:srgbClr val="F47216"/>
            </a:solidFill>
            <a:prstDash val="solid"/>
          </a:ln>
          <a:effectLst>
            <a:outerShdw sx="100000" sy="100000" kx="0" ky="0" algn="bl" rotWithShape="0" blurRad="114300" dist="38100" dir="5400000">
              <a:srgbClr val="0C1133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28254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SVM   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823960" y="2843784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47216"/>
          </a:solidFill>
          <a:ln/>
        </p:spPr>
      </p:sp>
      <p:sp>
        <p:nvSpPr>
          <p:cNvPr id="15" name="Text 13"/>
          <p:cNvSpPr/>
          <p:nvPr/>
        </p:nvSpPr>
        <p:spPr>
          <a:xfrm>
            <a:off x="8823960" y="28437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precision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49640" y="31729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6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0.9763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852160" y="4023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5  ·  max_features = 6,000  ·  1–2 grams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1206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141A4D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5570525"/>
            <a:ext cx="252374" cy="25237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72768" y="5285232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SVM? 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sparse, high-dimensional TF-IDF space it finds a wide, confident margin, exactly what a precision-first objective rewards, while keeping recall and AUC high.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4721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0789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on the Held-Out Test Set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DEBDC"/>
          </a:solidFill>
          <a:ln w="15875">
            <a:solidFill>
              <a:srgbClr val="F47216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201168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6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98.37%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66928" y="276148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55848" y="187452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01568" y="201168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32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92.37%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55848" y="276148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44768" y="187452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0488" y="201168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32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95.28%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44768" y="276148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33688" y="187452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79408" y="201168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32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98.84%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933688" y="276148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" y="3584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6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 ·  1,034 TEST MESSAGES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83080" y="4069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43068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0360" y="43068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783080" y="4636008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141A4D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783080" y="4709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901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783080" y="5239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80360" y="4636008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880360" y="4709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2880360" y="5239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83080" y="5733288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232A6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783080" y="58064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783080" y="63367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80360" y="5733288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141A4D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880360" y="58064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2880360" y="63367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9848" y="5596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3703320"/>
            <a:ext cx="5577840" cy="2606040"/>
          </a:xfrm>
          <a:prstGeom prst="roundRect">
            <a:avLst>
              <a:gd name="adj" fmla="val 4211"/>
            </a:avLst>
          </a:prstGeom>
          <a:solidFill>
            <a:srgbClr val="141A4D"/>
          </a:solidFill>
          <a:ln/>
          <a:effectLst>
            <a:outerShdw sx="100000" sy="100000" kx="0" ky="0" algn="bl" rotWithShape="0" blurRad="114300" dist="38100" dir="5400000">
              <a:srgbClr val="0C1133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55080" y="4005072"/>
            <a:ext cx="566928" cy="566928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151" y="4158143"/>
            <a:ext cx="260787" cy="260787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040880" y="400507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result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6364224" y="4709160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A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2 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DE3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903 genuine messages were wrongly flagged as spam.</a:t>
            </a:r>
            <a:endParaRPr lang="en-US" sz="1900" dirty="0"/>
          </a:p>
        </p:txBody>
      </p:sp>
      <p:sp>
        <p:nvSpPr>
          <p:cNvPr id="40" name="Text 37"/>
          <p:cNvSpPr/>
          <p:nvPr/>
        </p:nvSpPr>
        <p:spPr>
          <a:xfrm>
            <a:off x="6364224" y="5532120"/>
            <a:ext cx="4919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precision-first objective delivered: when the model says "spam", it is right 98.4% of the time, and real messages almost never get lost.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754880"/>
            <a:ext cx="3657600" cy="3657600"/>
          </a:xfrm>
          <a:prstGeom prst="ellipse">
            <a:avLst/>
          </a:prstGeom>
          <a:solidFill>
            <a:srgbClr val="232A66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5943600"/>
            <a:ext cx="1280160" cy="1280160"/>
          </a:xfrm>
          <a:prstGeom prst="ellipse">
            <a:avLst/>
          </a:prstGeom>
          <a:solidFill>
            <a:srgbClr val="F4721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 &amp; Future Work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WORK DELIVERS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304288"/>
            <a:ext cx="457200" cy="457200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42773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2267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precision-first framing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70432" y="261518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ranking, CV and tuning all scored on precision to protect genuine messages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3172968"/>
            <a:ext cx="457200" cy="457200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3296412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0432" y="3136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Domain-aware preprocessing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170432" y="348386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emoticons, slang, placeholder tokens and char n-grams catch obfuscated spam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4041648"/>
            <a:ext cx="457200" cy="457200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16509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70432" y="4005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leakage-safe pipeline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170432" y="43525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inside the pipeline keeps the test set honest at its natural 12.6% rate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66928" y="4910328"/>
            <a:ext cx="457200" cy="457200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5033772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70432" y="48737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98.4% precision, 2 false positives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170432" y="52212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SVM, validated on a held-out imbalanced test set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629400" y="2240280"/>
            <a:ext cx="4983480" cy="2788920"/>
          </a:xfrm>
          <a:prstGeom prst="roundRect">
            <a:avLst>
              <a:gd name="adj" fmla="val 3934"/>
            </a:avLst>
          </a:prstGeom>
          <a:solidFill>
            <a:srgbClr val="232A66"/>
          </a:solidFill>
          <a:ln/>
          <a:effectLst>
            <a:outerShdw sx="100000" sy="100000" kx="0" ky="0" algn="bl" rotWithShape="0" blurRad="114300" dist="38100" dir="5400000">
              <a:srgbClr val="0C1133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922008" y="2487168"/>
            <a:ext cx="530352" cy="530352"/>
          </a:xfrm>
          <a:prstGeom prst="ellipse">
            <a:avLst/>
          </a:prstGeom>
          <a:solidFill>
            <a:srgbClr val="F47216"/>
          </a:solidFill>
          <a:ln/>
          <a:effectLst>
            <a:outerShdw sx="100000" sy="100000" kx="0" ky="0" algn="bl" rotWithShape="0" blurRad="88900" dist="25400" dir="5400000">
              <a:srgbClr val="0C1133">
                <a:alpha val="1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5203" y="2630363"/>
            <a:ext cx="243962" cy="2439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62088" y="248716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6958584" y="3154680"/>
            <a:ext cx="4343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UK SMS only, so generalisation to email or other channels is untested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(92%) leaves room to recover spam that slips through if costs shift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embeddings (e.g. BERT) could lift both precision and recall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tunable threshold would let deployments dial the precision–recall balance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66928" y="5806440"/>
            <a:ext cx="11064240" cy="0"/>
          </a:xfrm>
          <a:prstGeom prst="line">
            <a:avLst/>
          </a:prstGeom>
          <a:noFill/>
          <a:ln w="19050">
            <a:solidFill>
              <a:srgbClr val="232A66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66928" y="5989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A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I welcome your questions.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Spam Detection with Precision — Dissertation Viva</dc:title>
  <dc:subject>PptxGenJS Presentation</dc:subject>
  <dc:creator>Steve</dc:creator>
  <cp:lastModifiedBy>Steve</cp:lastModifiedBy>
  <cp:revision>1</cp:revision>
  <dcterms:created xsi:type="dcterms:W3CDTF">2026-06-09T18:21:53Z</dcterms:created>
  <dcterms:modified xsi:type="dcterms:W3CDTF">2026-06-09T18:21:53Z</dcterms:modified>
</cp:coreProperties>
</file>